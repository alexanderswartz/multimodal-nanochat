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3" r:id="rId18"/>
    <p:sldId id="275" r:id="rId19"/>
    <p:sldId id="277" r:id="rId20"/>
    <p:sldId id="278" r:id="rId21"/>
    <p:sldId id="279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974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89AF-B0B1-0A5F-62FB-C1087A1DD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FC6FC-DDD4-74E2-B8BF-64CA646CA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BD897-03DD-03D9-D016-38EDC9136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FAF95-3C37-D38D-42B4-1E60046EC4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50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AF10E-E337-96D1-00AF-08973E79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5FCFA-9FCF-F4A6-D68D-3F62611DF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D29E7-3ED7-E851-CB4A-56C4D9BF5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EA65D-F6E8-47BF-4429-DE086EDB9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17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CEF3-6A40-EECC-747D-9F38103D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5656C-E32E-C4EE-969D-3742F7C99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7F3C8-F48F-80C7-2D2C-EE24F0727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1A68B-741F-A0CA-C928-6305B6A959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728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49517-4E90-AFCB-4287-4AEFB1AF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F432A-47F0-EA46-B420-8C721FF01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1C1E6-8CD2-FE1B-BEF1-D525D87C4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043CF-CCEA-B5FB-6367-4346279A7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71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BB11-C578-4360-CE90-8DF0EAB1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5F211-B15C-9CD2-1ACA-6A1F7BABA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89F49-28F3-319C-BF2A-693C8D61F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BEF66-0C7E-8C3E-40BD-8A6DD53744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879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6E0BF-D76C-20B0-C24E-C72A34CF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4BAF6-C55B-4C42-0C33-7A46DF6B4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474A9-AE89-41A6-5FA7-5C9FAFF4C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31E64-5D14-733A-948B-9EB24AB30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40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2FBC5-274C-6B71-971C-DD3E771F1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261F2-0C97-D4E7-F067-02B2794D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2814C-9948-B55E-972E-D5C567B3A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1899F-C732-1692-6B47-FC4898973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7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anderSwartz/nano-llav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andb.ai/as7629-columbia-university/Multimodal-Nanochat/table?nw=nwuseras7629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anderSwartz/nano-llav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andb.ai/as7629-columbia-university/Multimodal-Nanochat/table?nw=nwuseras7629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Final Project  ·  Spring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</a:t>
            </a:r>
            <a:r>
              <a:rPr lang="en-US" sz="5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Training Pipeline for Pre-trained </a:t>
            </a:r>
            <a:r>
              <a:rPr lang="en-US" sz="2000" i="1" dirty="0" err="1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Nanochat</a:t>
            </a:r>
            <a:r>
              <a:rPr lang="en-US" sz="20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Extended to Image Captioning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#36]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8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[Alexander Swartz] · [as7629]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400" dirty="0">
                <a:hlinkClick r:id="rId3"/>
              </a:rPr>
              <a:t>https://github.com/AlexanderSwartz/nano-llava</a:t>
            </a:r>
            <a:endParaRPr lang="en-US" sz="14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https://wandb.ai/as7629-columbia-university/Multimodal-Nanochat/table?nw=nwuseras7629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Kaoutar El Maghraoui  ·  Columbia University  ·  Week of May 4,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8156" y="191795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8047" y="2375151"/>
            <a:ext cx="5968261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demand for LLMs that a beginner can train with consumer hardware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 LLM to a new modality with minimal changes to model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training required for image captioning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both a pre-trained vision encoder and LLM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 what is absolutely necessary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84596" y="191795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84596" y="2160885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pre-trained image encoder and LLM, find the minimal training setup needed to extend an LLM for image captioning. 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Goals: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 of total training time on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dataloading</a:t>
            </a:r>
            <a:endParaRPr lang="en-US" sz="15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of total training time on H2D transfer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GPU utilization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5x speedup over in inference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/sec</a:t>
            </a:r>
          </a:p>
          <a:p>
            <a:pPr marL="0" indent="0">
              <a:spcAft>
                <a:spcPts val="800"/>
              </a:spcAft>
              <a:buNone/>
            </a:pPr>
            <a:endParaRPr lang="en-US" sz="15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260B66-FEBD-B19C-C0C2-1BF57D551051}"/>
              </a:ext>
            </a:extLst>
          </p:cNvPr>
          <p:cNvGrpSpPr/>
          <p:nvPr/>
        </p:nvGrpSpPr>
        <p:grpSpPr>
          <a:xfrm>
            <a:off x="1716505" y="876222"/>
            <a:ext cx="8758989" cy="4841841"/>
            <a:chOff x="1716505" y="876222"/>
            <a:chExt cx="8758989" cy="48418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7E10816-E58C-0D4C-C54E-A3B1B1F76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6505" y="1576489"/>
              <a:ext cx="8758989" cy="4141574"/>
            </a:xfrm>
            <a:prstGeom prst="rect">
              <a:avLst/>
            </a:prstGeom>
          </p:spPr>
        </p:pic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A0D1DDFC-B853-573C-5643-72D08B10E47E}"/>
                </a:ext>
              </a:extLst>
            </p:cNvPr>
            <p:cNvSpPr/>
            <p:nvPr/>
          </p:nvSpPr>
          <p:spPr>
            <a:xfrm>
              <a:off x="2991661" y="876222"/>
              <a:ext cx="5578728" cy="7002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Nano-</a:t>
              </a:r>
              <a:r>
                <a:rPr lang="en-US" sz="2400" b="1" dirty="0" err="1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LLaVa</a:t>
              </a:r>
              <a:r>
                <a:rPr lang="en-US" sz="2400" b="1" dirty="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 Architecture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7937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Model &amp;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355848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Vision Encoder: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-B/32 (Vision Transformer Base, patch size 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151M params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transformers library</a:t>
            </a:r>
          </a:p>
          <a:p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Nanochat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decoder-only transformer architecture (“GPT from scratch”)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561M params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weights from smaller, d20 version (20 layers)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repo for “hackability”</a:t>
            </a:r>
          </a:p>
          <a:p>
            <a:r>
              <a:rPr lang="en-US" sz="1400" b="1" dirty="0"/>
              <a:t>all-MiniLM-L6-v2: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Distilled transformer for semantic similarity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22.7M params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HF transformer library</a:t>
            </a:r>
          </a:p>
          <a:p>
            <a:endParaRPr lang="en-US" sz="1400" dirty="0"/>
          </a:p>
          <a:p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Tx/>
              <a:buChar char="-"/>
            </a:pP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44568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2219" y="2468880"/>
            <a:ext cx="3407433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COCO Captions train and </a:t>
            </a:r>
            <a:r>
              <a:rPr lang="en-US" sz="1400" dirty="0" err="1"/>
              <a:t>val</a:t>
            </a:r>
            <a:r>
              <a:rPr lang="en-US" sz="1400" dirty="0"/>
              <a:t> 2017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123,287 images, ~ 5 captions each = 616,767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for each image included in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591,753 training,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25,014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Set (focus on training pipeline, not hyperparameter tuning)</a:t>
            </a:r>
          </a:p>
          <a:p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4736" y="1828800"/>
            <a:ext cx="358444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03336" y="201168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3336" y="2468880"/>
            <a:ext cx="3127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[NVIDIA L4, g2-standard-4 (4 vCPUs, 16 GB Memory), Google, Deep Learning VM with CUDA 12.4, M129, Debian 11, Python 3.10</a:t>
            </a:r>
          </a:p>
          <a:p>
            <a:pPr marL="0" indent="0">
              <a:buNone/>
            </a:pP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2.6.0+cu124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transformer library (CLIP model and sentence transformer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pycocotools.coco</a:t>
            </a: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rustbpe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</a:t>
            </a: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— Optimizations Applied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Dataloading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Offline Image Embeddings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19" y="2377440"/>
            <a:ext cx="108580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loading the CLIP model and embedding each image during training, pre-compute embeddings and load .pt files during training / validation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AMP-Driven Batch Maximization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mixed precision to decrease memory, creating space for larger mini batches on GPU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4709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Decoding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5212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sequentially decoding image captions, bundle in batches to leverage parallelism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57266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Profiler 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 Summary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instrumentation </a:t>
            </a:r>
          </a:p>
          <a:p>
            <a:pPr marL="1257300" lvl="2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000" dirty="0" err="1">
                <a:solidFill>
                  <a:srgbClr val="1A1A1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torch_profiler.record_function</a:t>
            </a:r>
            <a:r>
              <a:rPr lang="en-US" sz="1000" dirty="0">
                <a:solidFill>
                  <a:srgbClr val="1A1A1A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rPr>
              <a:t>("Forward Pass"):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for run-level tracking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Efficiency Metrics: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 err="1"/>
              <a:t>Dataloader</a:t>
            </a:r>
            <a:r>
              <a:rPr lang="en-US" sz="1500" dirty="0"/>
              <a:t> Wait Time, H2D Transfer, and Warmup/Hot Time </a:t>
            </a:r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captured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Wait Time</a:t>
            </a:r>
            <a:r>
              <a:rPr lang="en-US" sz="1500" dirty="0"/>
              <a:t> , H2D Transfer, and Warmup/Hot Time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 %, Estimated Achieved Occupancy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/>
              <a:t>Train and Validation Tok/Sec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stage: sync → h2d transfer →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bwd →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prefetch → opt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quality metric (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bpb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avg semantic similarity score)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Headline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4998" y="2376839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5.74x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864998" y="3931319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</a:t>
            </a:r>
            <a:r>
              <a:rPr lang="en-US" sz="1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/sec during inference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4998" y="4342799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optimized batching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9553" y="2240280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82.68%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99553" y="3794760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est. SM utilization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9553" y="4206240"/>
            <a:ext cx="3584448" cy="6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 embeddings → optimized </a:t>
            </a:r>
            <a:r>
              <a:rPr lang="en-US" sz="1400" b="1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embeddings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51376" y="2224639"/>
            <a:ext cx="3584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75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8.77x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151376" y="3779119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in training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284BA61-377E-E1F6-C61D-A521DB500700}"/>
              </a:ext>
            </a:extLst>
          </p:cNvPr>
          <p:cNvSpPr/>
          <p:nvPr/>
        </p:nvSpPr>
        <p:spPr>
          <a:xfrm>
            <a:off x="4151376" y="4236319"/>
            <a:ext cx="3584448" cy="6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-&gt; offline embeddings + </a:t>
            </a:r>
          </a:p>
          <a:p>
            <a:pPr algn="ctr"/>
            <a:r>
              <a:rPr lang="en-US" sz="14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FP32 -&gt; B16 speedup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796DF-0416-80A8-9F65-8B3A64BF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90B88F-84F2-1390-8644-0AD37173C924}"/>
              </a:ext>
            </a:extLst>
          </p:cNvPr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Before vs. After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54BFA3-138C-A618-6BA8-B1DBFD1B2665}"/>
              </a:ext>
            </a:extLst>
          </p:cNvPr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B5175E7-92C3-E8D9-648B-43AD59C0F70C}"/>
              </a:ext>
            </a:extLst>
          </p:cNvPr>
          <p:cNvSpPr/>
          <p:nvPr/>
        </p:nvSpPr>
        <p:spPr>
          <a:xfrm>
            <a:off x="8260080" y="1846053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906F8B-AA21-9F39-EBFA-6B919FBFF1B5}"/>
              </a:ext>
            </a:extLst>
          </p:cNvPr>
          <p:cNvSpPr/>
          <p:nvPr/>
        </p:nvSpPr>
        <p:spPr>
          <a:xfrm>
            <a:off x="7752877" y="2286000"/>
            <a:ext cx="421907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embeddings and mixed precision provided the greatest training speedup and throughput improvement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Tradeoffs: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memory increased warmup training time but decreased hot training time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Device Batch Size too much increases GPU Utilization but slows training, likely from cache spilling</a:t>
            </a:r>
          </a:p>
          <a:p>
            <a:pPr marL="800100" lvl="1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has better GPU Utilization than BF16, but lower Estimated Achieved Occupancy 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endParaRPr lang="en-US" sz="13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F2C790A-A32A-F91F-4439-00A754D9C1CD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3DD7C43-3D6E-60D0-7739-131C96EB0C14}"/>
              </a:ext>
            </a:extLst>
          </p:cNvPr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1BA8BB3-A67F-5CBD-1D7F-2F6297607A73}"/>
              </a:ext>
            </a:extLst>
          </p:cNvPr>
          <p:cNvSpPr/>
          <p:nvPr/>
        </p:nvSpPr>
        <p:spPr>
          <a:xfrm>
            <a:off x="220049" y="6053887"/>
            <a:ext cx="5225971" cy="70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Baseline: </a:t>
            </a:r>
            <a:r>
              <a:rPr lang="en-US" sz="1400" dirty="0"/>
              <a:t>baseline_online_w0_persistFalse_pinFalse</a:t>
            </a:r>
          </a:p>
          <a:p>
            <a:pPr algn="ctr"/>
            <a:r>
              <a:rPr lang="en-US" sz="1400" b="1" dirty="0"/>
              <a:t>Optimized: </a:t>
            </a:r>
            <a:r>
              <a:rPr lang="en-US" sz="1400" dirty="0" err="1"/>
              <a:t>optimized_offline_pinTrue</a:t>
            </a:r>
            <a:endParaRPr lang="en-US" sz="1400" b="1" dirty="0"/>
          </a:p>
          <a:p>
            <a:pPr algn="ctr"/>
            <a:endParaRPr lang="en-US" sz="16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6D707A33-D501-2BD8-953A-2D93DFDED717}"/>
              </a:ext>
            </a:extLst>
          </p:cNvPr>
          <p:cNvSpPr/>
          <p:nvPr/>
        </p:nvSpPr>
        <p:spPr>
          <a:xfrm>
            <a:off x="4388617" y="6150894"/>
            <a:ext cx="5225971" cy="70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Baseline: </a:t>
            </a:r>
            <a:r>
              <a:rPr lang="en-US" sz="1400" dirty="0"/>
              <a:t>baseline_evalBS1_KVCacheFalse</a:t>
            </a:r>
          </a:p>
          <a:p>
            <a:pPr algn="ctr"/>
            <a:r>
              <a:rPr lang="en-US" sz="1400" b="1" dirty="0"/>
              <a:t>Optimized: </a:t>
            </a:r>
            <a:r>
              <a:rPr lang="en-US" sz="1400" dirty="0"/>
              <a:t>optimized_evalBS16_KVCacheFalse</a:t>
            </a:r>
          </a:p>
          <a:p>
            <a:pPr algn="ctr"/>
            <a:endParaRPr lang="en-US" sz="1400" b="1" dirty="0"/>
          </a:p>
          <a:p>
            <a:pPr algn="ctr"/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5B5DA-A68D-D6B4-C680-BBF29C34C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50" y="1350294"/>
            <a:ext cx="6778170" cy="425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78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39819" y="1733910"/>
            <a:ext cx="3710221" cy="4209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Bottleneck: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Prefetch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online image embeddings take place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underutilized before pre-computed image embeddings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BF16 -&gt; FP32 halved % of time in H2D Transfer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1A5310-295C-37E7-B87B-5D31A68894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567"/>
          <a:stretch>
            <a:fillRect/>
          </a:stretch>
        </p:blipFill>
        <p:spPr>
          <a:xfrm>
            <a:off x="258412" y="1160826"/>
            <a:ext cx="2985833" cy="2329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6489A3-9910-4893-F13A-0EFD0AC8B6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7900"/>
          <a:stretch>
            <a:fillRect/>
          </a:stretch>
        </p:blipFill>
        <p:spPr>
          <a:xfrm>
            <a:off x="258412" y="3429000"/>
            <a:ext cx="2985833" cy="20968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82BF46-2DAA-589A-8393-EC9909428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6578" y="1203721"/>
            <a:ext cx="3463806" cy="231856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CA78059-22E1-4D0C-4FA5-2A9A31A673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087" y="3335655"/>
            <a:ext cx="3188723" cy="23185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B0ECE8-58F5-D76E-52B2-9509B3718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4404" y="5654216"/>
            <a:ext cx="5371683" cy="1178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Visualization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93102" y="6126481"/>
            <a:ext cx="902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E399AA-97FB-EA57-60BC-CF51ED362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23" y="1148646"/>
            <a:ext cx="11197087" cy="4977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single, linear projection layer is needed to adapt an LLM for image captioning</a:t>
            </a:r>
          </a:p>
          <a:p>
            <a:pPr marL="800100" lvl="1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finding from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paper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CLIP model is frozen, pre-computing image embeddings is free time-save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frees memory, allows for increasing device batch size. Tune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Optimizing for the correct metrics: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Peak GPU Memory only measures VRAM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GPU Utilization only measures time GPU is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Achieved Occupancy actually measures  GPU saturation</a:t>
            </a:r>
            <a:endParaRPr lang="en-US" sz="15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63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5352" y="2194560"/>
            <a:ext cx="5486400" cy="4122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Torch.compile</a:t>
            </a: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did not work, likely from incompatibility of </a:t>
            </a:r>
            <a:r>
              <a:rPr lang="en-US" sz="15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nanochat</a:t>
            </a: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model, </a:t>
            </a:r>
            <a:r>
              <a:rPr lang="en-US" sz="15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, and CUDA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Model Flops Utilization (MFU) is not a meaningful metric when using same hardware and model – just use </a:t>
            </a:r>
            <a:r>
              <a:rPr lang="en-US" sz="150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tok</a:t>
            </a: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/sec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Increasing device batch size too much increases GPU utilization but slows training, likely from cache spilling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KV Caching is not as useful for smaller contexts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Decreasing total batch size proportionally decreased training time for a fixed number of iterations, but only because this also decreasing samples per iteration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total batch size and other hyperparameters to improve caption quality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GPU(s) with more memory to enable loading larger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Nanochat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 model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layers in </a:t>
            </a:r>
            <a:r>
              <a:rPr lang="en-US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nanochat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and try different vision project layers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8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Nanochat’s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built-in learning rate scheduler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Contributions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2A64C8-94C5-200D-AB86-A41246BC60E8}"/>
              </a:ext>
            </a:extLst>
          </p:cNvPr>
          <p:cNvSpPr/>
          <p:nvPr/>
        </p:nvSpPr>
        <p:spPr>
          <a:xfrm>
            <a:off x="457200" y="1828799"/>
            <a:ext cx="6814868" cy="129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design, code, analysis and report was done by me.</a:t>
            </a:r>
          </a:p>
          <a:p>
            <a:pPr marL="0" indent="0">
              <a:buNone/>
            </a:pPr>
            <a:b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I started with a group, I did not use any of their work.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B8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600" dirty="0">
                <a:hlinkClick r:id="rId3"/>
              </a:rPr>
              <a:t>https://github.com/AlexanderSwartz/nano-llava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https://wandb.ai/as7629-columbia-university/Multimodal-Nanochat/table?nw=nwuseras7629</a:t>
            </a: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E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021797"/>
              </p:ext>
            </p:extLst>
          </p:nvPr>
        </p:nvGraphicFramePr>
        <p:xfrm>
          <a:off x="457200" y="1413006"/>
          <a:ext cx="9456821" cy="3476877"/>
        </p:xfrm>
        <a:graphic>
          <a:graphicData uri="http://schemas.openxmlformats.org/drawingml/2006/table">
            <a:tbl>
              <a:tblPr/>
              <a:tblGrid>
                <a:gridCol w="1974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2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9625">
                  <a:extLst>
                    <a:ext uri="{9D8B030D-6E8A-4147-A177-3AD203B41FA5}">
                      <a16:colId xmlns:a16="http://schemas.microsoft.com/office/drawing/2014/main" val="384984143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1" dirty="0"/>
                        <a:t>Δ </a:t>
                      </a:r>
                      <a:r>
                        <a:rPr lang="en-US" sz="1400" b="1" dirty="0"/>
                        <a:t>Improvement</a:t>
                      </a:r>
                    </a:p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Pinned Memory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-1.95% Training Time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99276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Num Workers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-26.74% Training Time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8838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Time of Image Embedding Computation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Online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Offline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-83.71% Training Time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607808"/>
                  </a:ext>
                </a:extLst>
              </a:tr>
              <a:tr h="4136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Device Batch Size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-57.51% Peak GPU Memory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92931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+19.83% Val. Semantic Similarity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+ 21.35% Profiler Est. Achieved Efficiency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Evaluation Batch Size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+474.41% Inference Tok/Sec</a:t>
                      </a: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93693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CCA06-58D5-D962-2530-91075315F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7FA5C1-24C7-6C71-59C0-5610784D7850}"/>
              </a:ext>
            </a:extLst>
          </p:cNvPr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Mixed Precision Manual Instrumentation Results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726DDD7-9418-42F3-94B4-B27E6A1B43A1}"/>
              </a:ext>
            </a:extLst>
          </p:cNvPr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6A5E8E4-DA52-E681-EDA3-83EC95F506F8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A4683ED-3322-3241-30DC-86DADE2D9251}"/>
              </a:ext>
            </a:extLst>
          </p:cNvPr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A6C31-23EE-B862-E665-743CBC5AE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" y="1378844"/>
            <a:ext cx="3802272" cy="2764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0071BC-EC2F-9926-4F07-B2DD28D6D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634" y="1568967"/>
            <a:ext cx="3708554" cy="276468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498DB02F-A06A-13C4-DA27-E6EE3D0ADF58}"/>
              </a:ext>
            </a:extLst>
          </p:cNvPr>
          <p:cNvSpPr/>
          <p:nvPr/>
        </p:nvSpPr>
        <p:spPr>
          <a:xfrm>
            <a:off x="7944929" y="1921707"/>
            <a:ext cx="3987651" cy="129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BF16 -&gt; FP32 halved % of time in H2D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has better GPU Utilization than BF16, but lower Estimated Achieved Occupancy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D0AE9-7640-6522-3173-5692ECA25CC5}"/>
              </a:ext>
            </a:extLst>
          </p:cNvPr>
          <p:cNvSpPr txBox="1"/>
          <p:nvPr/>
        </p:nvSpPr>
        <p:spPr>
          <a:xfrm>
            <a:off x="259420" y="4483590"/>
            <a:ext cx="4172873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 training time at BF16: 99.62862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605C7-47B9-0C34-753E-0906EB1ACB5D}"/>
              </a:ext>
            </a:extLst>
          </p:cNvPr>
          <p:cNvSpPr txBox="1"/>
          <p:nvPr/>
        </p:nvSpPr>
        <p:spPr>
          <a:xfrm>
            <a:off x="4158915" y="4483589"/>
            <a:ext cx="4172873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 training time at BF16: </a:t>
            </a:r>
            <a:r>
              <a:rPr lang="en-US" dirty="0"/>
              <a:t>151.3277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A62F3D-CA8C-3396-AA65-3486A095AB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8026"/>
          <a:stretch>
            <a:fillRect/>
          </a:stretch>
        </p:blipFill>
        <p:spPr>
          <a:xfrm>
            <a:off x="927542" y="4971392"/>
            <a:ext cx="2071911" cy="14739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41DBBB-E9B5-80CF-8ECA-DF8271DDCF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8182"/>
          <a:stretch>
            <a:fillRect/>
          </a:stretch>
        </p:blipFill>
        <p:spPr>
          <a:xfrm>
            <a:off x="4354207" y="4878762"/>
            <a:ext cx="2175902" cy="156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52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C84A8-5515-337E-A8BF-A95D8B8B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80C7AB-017B-D261-F957-29F873FFD293}"/>
              </a:ext>
            </a:extLst>
          </p:cNvPr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Pinned Memory During Online Embeddings Results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971A0D-CAF6-C20F-69DD-2155300FA834}"/>
              </a:ext>
            </a:extLst>
          </p:cNvPr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6AF786B-6093-0E87-F5DA-0A1F4F71AB8F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E6AC3D2-A4E8-87B0-3EDF-9E2F948EA4EA}"/>
              </a:ext>
            </a:extLst>
          </p:cNvPr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A2B70-A5AB-6234-819E-D46E4A755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71" y="1538150"/>
            <a:ext cx="6768373" cy="4198416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B9BFC6D4-6A1E-C0BE-08A4-83B6A3DE7A60}"/>
              </a:ext>
            </a:extLst>
          </p:cNvPr>
          <p:cNvSpPr/>
          <p:nvPr/>
        </p:nvSpPr>
        <p:spPr>
          <a:xfrm>
            <a:off x="7538678" y="1319555"/>
            <a:ext cx="3987651" cy="199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memory created up-front cost, increasing warmup time. The decrease in hot time is worth this up-front cost</a:t>
            </a:r>
          </a:p>
        </p:txBody>
      </p:sp>
    </p:spTree>
    <p:extLst>
      <p:ext uri="{BB962C8B-B14F-4D97-AF65-F5344CB8AC3E}">
        <p14:creationId xmlns:p14="http://schemas.microsoft.com/office/powerpoint/2010/main" val="4035748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A8888-D20B-16AF-A81A-298DEF78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CCE479-7DDC-B536-ABA7-43DFBC847A22}"/>
              </a:ext>
            </a:extLst>
          </p:cNvPr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Num Workers During Online Embeddings Results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4E6719-F299-262F-454C-52E71BA91533}"/>
              </a:ext>
            </a:extLst>
          </p:cNvPr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EB7A697-05DB-B6F6-DD54-BCE1CE56489F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279D0D1-ABC9-F924-5517-FCDF4683A813}"/>
              </a:ext>
            </a:extLst>
          </p:cNvPr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EF000A-A678-DED3-F62A-695B5A861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2" y="1660183"/>
            <a:ext cx="6956116" cy="431487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7D440CC2-BE30-1058-C1B1-E84EAFBB4A0E}"/>
              </a:ext>
            </a:extLst>
          </p:cNvPr>
          <p:cNvSpPr/>
          <p:nvPr/>
        </p:nvSpPr>
        <p:spPr>
          <a:xfrm>
            <a:off x="7944929" y="1744110"/>
            <a:ext cx="3987651" cy="129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Increasing num workers beyond the number of CPUs (4 here) causes diminishing returns due to </a:t>
            </a:r>
            <a:r>
              <a:rPr lang="en-US" sz="1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multiprocesing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overhead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40353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918AC-02B4-3AEE-F6F5-8A0EB3A1F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401FD1-E8A6-9EFE-68CE-56909F93F019}"/>
              </a:ext>
            </a:extLst>
          </p:cNvPr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Learning Rate Tuning Results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5DA5ED-965E-E9F5-04D6-A46B94ED5D68}"/>
              </a:ext>
            </a:extLst>
          </p:cNvPr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E60899C-CD0F-A150-F72E-F46D9FD9B049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DCB6CBE-6C8D-1ED7-3091-A8A3F6ECD203}"/>
              </a:ext>
            </a:extLst>
          </p:cNvPr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71A33D-F779-C910-7FD9-7A0E97D33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20" y="1324846"/>
            <a:ext cx="7515225" cy="4657725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DCB6DD84-ABD2-48F0-C2F7-B2F44412F8CA}"/>
              </a:ext>
            </a:extLst>
          </p:cNvPr>
          <p:cNvSpPr/>
          <p:nvPr/>
        </p:nvSpPr>
        <p:spPr>
          <a:xfrm>
            <a:off x="7944929" y="1744110"/>
            <a:ext cx="3987651" cy="1293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Optimal learning rate was set to 10^-2 for best </a:t>
            </a:r>
            <a:r>
              <a:rPr lang="en-US" sz="1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bpb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average semantic similarity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88328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2F34E-5965-D235-05C2-9DBFBE67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E4A67A-D7BE-2B4A-BFEA-7804792451D1}"/>
              </a:ext>
            </a:extLst>
          </p:cNvPr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Device Batch Size Results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67C94D-DBB1-6F00-F253-48FC093234BE}"/>
              </a:ext>
            </a:extLst>
          </p:cNvPr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3DA45A1-EFE8-A3BB-4FFE-1B0643A069E5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CD891B7-D17C-9AA5-8214-86E3D9E036BF}"/>
              </a:ext>
            </a:extLst>
          </p:cNvPr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5C73B-B60B-6AB0-F2DF-68038D84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20" y="1619117"/>
            <a:ext cx="3902980" cy="2837906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95B26B40-81F2-FABA-66DB-C3879FDBFA96}"/>
              </a:ext>
            </a:extLst>
          </p:cNvPr>
          <p:cNvSpPr/>
          <p:nvPr/>
        </p:nvSpPr>
        <p:spPr>
          <a:xfrm>
            <a:off x="7944929" y="1744110"/>
            <a:ext cx="3987651" cy="199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Device Batch Size will reduce gradient accumulation steps (mini batches), reducing overhead forward calls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Peak GPU Memory too much can cause cache spilling, increasing time spent moving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DCFD7D-A0B3-E69C-98B0-884D604DD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924" y="1619116"/>
            <a:ext cx="3669351" cy="28379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99BC039-3108-CF67-3581-620857239D35}"/>
              </a:ext>
            </a:extLst>
          </p:cNvPr>
          <p:cNvSpPr txBox="1"/>
          <p:nvPr/>
        </p:nvSpPr>
        <p:spPr>
          <a:xfrm>
            <a:off x="259420" y="4483590"/>
            <a:ext cx="4172873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 training time at BS16: 99.62862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30C9C-07AA-74F1-2F37-900A30D5507D}"/>
              </a:ext>
            </a:extLst>
          </p:cNvPr>
          <p:cNvSpPr txBox="1"/>
          <p:nvPr/>
        </p:nvSpPr>
        <p:spPr>
          <a:xfrm>
            <a:off x="4108924" y="4510157"/>
            <a:ext cx="3942991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 training time at BS64: 130.63998</a:t>
            </a:r>
          </a:p>
        </p:txBody>
      </p:sp>
    </p:spTree>
    <p:extLst>
      <p:ext uri="{BB962C8B-B14F-4D97-AF65-F5344CB8AC3E}">
        <p14:creationId xmlns:p14="http://schemas.microsoft.com/office/powerpoint/2010/main" val="3316705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EB3F4-D410-A161-F120-13DA2FEA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83D431-F952-9347-1443-0EF295A8C6CA}"/>
              </a:ext>
            </a:extLst>
          </p:cNvPr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Why isn’t MFU a meaningful metric?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86509E-8E23-EEE2-A0CB-E1373C2C1C68}"/>
              </a:ext>
            </a:extLst>
          </p:cNvPr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F2B5434-8AAB-92E3-F220-02FA5D374FC5}"/>
              </a:ext>
            </a:extLst>
          </p:cNvPr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HPML · Spring 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92187FD-3C8B-297E-629E-D5DBCFE5BC0A}"/>
              </a:ext>
            </a:extLst>
          </p:cNvPr>
          <p:cNvSpPr/>
          <p:nvPr/>
        </p:nvSpPr>
        <p:spPr>
          <a:xfrm>
            <a:off x="6245352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6FEC8A-E577-1EEC-DEC4-0A06B98BDE1F}"/>
              </a:ext>
            </a:extLst>
          </p:cNvPr>
          <p:cNvSpPr txBox="1"/>
          <p:nvPr/>
        </p:nvSpPr>
        <p:spPr>
          <a:xfrm>
            <a:off x="793630" y="1740390"/>
            <a:ext cx="110159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Model Flops Utilization (MFU) is supposed to measure percentage of theoretical peaks FLOPS is being reached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MFU = (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Tokens_per_second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*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FLOPS_per_token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) /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Peak_Hardware_FLOPS</a:t>
            </a:r>
            <a:endParaRPr lang="en-US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FLOPS_per_token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is always the same for this project (same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nanochat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model)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Peak_Hardware_FLOPS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 is always the same for this project (same hardware)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Only changing factor is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tok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/sec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For this project, MFU =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tok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/sec *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constant_factor</a:t>
            </a:r>
            <a:endParaRPr lang="en-US" dirty="0">
              <a:solidFill>
                <a:srgbClr val="1A1A1A"/>
              </a:solidFill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Conclusion: just use </a:t>
            </a:r>
            <a:r>
              <a:rPr lang="en-US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tok</a:t>
            </a:r>
            <a:r>
              <a:rPr lang="en-US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/sec</a:t>
            </a:r>
          </a:p>
        </p:txBody>
      </p:sp>
    </p:spTree>
    <p:extLst>
      <p:ext uri="{BB962C8B-B14F-4D97-AF65-F5344CB8AC3E}">
        <p14:creationId xmlns:p14="http://schemas.microsoft.com/office/powerpoint/2010/main" val="217114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6054</TotalTime>
  <Words>1510</Words>
  <Application>Microsoft Office PowerPoint</Application>
  <PresentationFormat>Widescreen</PresentationFormat>
  <Paragraphs>264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HPML Final Project — Presentation Template</dc:title>
  <dc:subject>HPML Spring 2026</dc:subject>
  <dc:creator>Dr. Kaoutar El Maghraoui</dc:creator>
  <cp:lastModifiedBy>as7629</cp:lastModifiedBy>
  <cp:revision>38</cp:revision>
  <dcterms:created xsi:type="dcterms:W3CDTF">2026-05-03T03:17:50Z</dcterms:created>
  <dcterms:modified xsi:type="dcterms:W3CDTF">2026-05-11T02:17:33Z</dcterms:modified>
</cp:coreProperties>
</file>