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3" r:id="rId17"/>
    <p:sldId id="275" r:id="rId18"/>
    <p:sldId id="277" r:id="rId19"/>
    <p:sldId id="278" r:id="rId20"/>
    <p:sldId id="279" r:id="rId21"/>
    <p:sldId id="280" r:id="rId22"/>
    <p:sldId id="281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974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089AF-B0B1-0A5F-62FB-C1087A1DD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FC6FC-DDD4-74E2-B8BF-64CA646CA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9BD897-03DD-03D9-D016-38EDC9136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FAF95-3C37-D38D-42B4-1E60046EC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35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F10E-E337-96D1-00AF-08973E79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5FCFA-9FCF-F4A6-D68D-3F62611DF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D29E7-3ED7-E851-CB4A-56C4D9BF5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EA65D-F6E8-47BF-4429-DE086EDB9C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17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EF3-6A40-EECC-747D-9F38103DB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35656C-E32E-C4EE-969D-3742F7C99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7F3C8-F48F-80C7-2D2C-EE24F0727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1A68B-741F-A0CA-C928-6305B6A95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728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9517-4E90-AFCB-4287-4AEFB1AF9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F432A-47F0-EA46-B420-8C721FF01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51C1E6-8CD2-FE1B-BEF1-D525D87C4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043CF-CCEA-B5FB-6367-4346279A74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714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BB11-C578-4360-CE90-8DF0EAB12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C5F211-B15C-9CD2-1ACA-6A1F7BABA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89F49-28F3-319C-BF2A-693C8D61F3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BEF66-0C7E-8C3E-40BD-8A6DD53744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5879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6E0BF-D76C-20B0-C24E-C72A34CF4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4BAF6-C55B-4C42-0C33-7A46DF6B48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474A9-AE89-41A6-5FA7-5C9FAFF4C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A31E64-5D14-733A-948B-9EB24AB30B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400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2FBC5-274C-6B71-971C-DD3E771F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0261F2-0C97-D4E7-F067-02B2794D9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2814C-9948-B55E-972E-D5C567B3A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1899F-C732-1692-6B47-FC48989736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1758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731DD-02A6-94C1-9AD8-94008022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3E292-1067-2364-C901-8D17C122FF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5869F-FDB0-DE91-EBAD-17B7E2473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AB70C-7DF5-F8BE-50D8-82FD922E6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373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anderSwartz/multimodal-nanoch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andb.ai/as7629-columbia-university/Multimodal-Nanochat/table?nw=nwuseras7629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anderSwartz/multimodal-nanochat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andb.ai/as7629-columbia-university/Multimodal-Nanochat/table?nw=nwuseras7629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Final Project  ·  Spring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Profiling-Driven Optimization of a Multimodal SLM for Efficient Image Captioning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3794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B8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Training Pipeline for Pre-trained </a:t>
            </a:r>
            <a:r>
              <a:rPr lang="en-US" sz="2000" i="1" dirty="0" err="1">
                <a:solidFill>
                  <a:srgbClr val="B8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sz="2000" i="1" dirty="0">
                <a:solidFill>
                  <a:srgbClr val="B8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Extended to Image Captioning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#36]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C8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[Alexander Swartz] · [as7629]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0" y="4572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r>
              <a:rPr lang="en-US" sz="1400" dirty="0">
                <a:hlinkClick r:id="rId3"/>
              </a:rPr>
              <a:t>https://github.com/AlexanderSwartz/multimodal-nanochat</a:t>
            </a:r>
            <a:endParaRPr lang="en-US" sz="1400" dirty="0"/>
          </a:p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https://wandb.ai/as7629-columbia-university/Multimodal-Nanochat/table?nw=nwuseras7629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9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Kaoutar El Maghraoui  ·  Columbia University  ·  Week of May 4,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8156" y="191795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8047" y="2375151"/>
            <a:ext cx="5968261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demand for LLMs that a beginner can train with consumer hardware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an LLM to a new modality with minimal changes to model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training required for image captioning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both a pre-trained vision encoder and LLM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train what is absolutely necessary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84596" y="191795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84596" y="2160885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pre-trained image encoder and LLM, find the minimal training setup needed to extend an LLM for image captioning. 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Goals: 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10% of total training time on 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dataloading</a:t>
            </a:r>
            <a:endParaRPr lang="en-US" sz="15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5% of total training time on H2D transfer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80% GPU utilization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5x speedup over in inference 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/sec</a:t>
            </a:r>
          </a:p>
          <a:p>
            <a:pPr marL="0" indent="0">
              <a:spcAft>
                <a:spcPts val="800"/>
              </a:spcAft>
              <a:buNone/>
            </a:pPr>
            <a:endParaRPr lang="en-US" sz="15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 — Model &amp;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5844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35584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Vision Encoder: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-B/32 (Vision Transformer Base, patch size 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151M params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transformers library</a:t>
            </a:r>
          </a:p>
          <a:p>
            <a:r>
              <a:rPr lang="en-US" sz="14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decoder-only transformer architecture (“GPT from scratch”)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561M params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weights from smaller, d20 version (20 layers)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repo for “hackability”</a:t>
            </a:r>
          </a:p>
          <a:p>
            <a:r>
              <a:rPr lang="en-US" sz="1400" b="1" dirty="0"/>
              <a:t>all-MiniLM-L6-v2: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Distilled transformer for semantic similarity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22.7M params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HF transformer library</a:t>
            </a:r>
          </a:p>
          <a:p>
            <a:endParaRPr lang="en-US" sz="1400" dirty="0"/>
          </a:p>
          <a:p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Tx/>
              <a:buChar char="-"/>
            </a:pP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5844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44568" y="2011680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2219" y="2468880"/>
            <a:ext cx="3407433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COCO Captions train and </a:t>
            </a:r>
            <a:r>
              <a:rPr lang="en-US" sz="1400" dirty="0" err="1"/>
              <a:t>val</a:t>
            </a:r>
            <a:r>
              <a:rPr lang="en-US" sz="1400" dirty="0"/>
              <a:t> 2017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123,287 images, ~ 5 captions each = 616,767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for each image included in metadata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591,753 training,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25,014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(focus on training pipeline, not hyperparameter tuning)</a:t>
            </a:r>
          </a:p>
          <a:p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/>
          </a:p>
          <a:p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74736" y="1828800"/>
            <a:ext cx="3584448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03336" y="2011680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03336" y="2468880"/>
            <a:ext cx="312724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[NVIDIA L4, g2-standard-4 (4 vCPUs, 16 GB Memory), Google, Deep Learning VM with CUDA 12.4, M129, Debian 11, Python 3.10</a:t>
            </a:r>
          </a:p>
          <a:p>
            <a:pPr marL="0" indent="0">
              <a:buNone/>
            </a:pP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stack: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12.4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2.6.0+cu124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transformer library (CLIP model and sentence transformer 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pycocotools.coco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rustbpe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tiktoken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 — Optimizations Applied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Dataloading</a:t>
            </a: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Offline Image Embeddings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19" y="2377440"/>
            <a:ext cx="1085806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loading the CLIP model and embedding each image during training, pre-compute embeddings and load .pt files during training / validation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60120" y="3291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AMP-Driven Batch Maximization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7947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mixed precision to decrease memory, creating space for larger mini batches on GPU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4709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Decoding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sequentially decoding image captions, bundle in batches to leverage parallelism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5572664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Profiler 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Tensorboard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GPU Summary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instrumentation </a:t>
            </a:r>
          </a:p>
          <a:p>
            <a:pPr marL="1257300" lvl="2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with </a:t>
            </a:r>
            <a:r>
              <a:rPr lang="en-US" sz="1000" dirty="0" err="1">
                <a:solidFill>
                  <a:srgbClr val="1A1A1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torch_profiler.record_function</a:t>
            </a:r>
            <a:r>
              <a:rPr lang="en-US" sz="1000" dirty="0">
                <a:solidFill>
                  <a:srgbClr val="1A1A1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("Forward Pass"):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5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&amp; Biases for run-level tracking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 Efficiency Metrics: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 err="1"/>
              <a:t>Dataloader</a:t>
            </a:r>
            <a:r>
              <a:rPr lang="en-US" sz="1500" dirty="0"/>
              <a:t> Wait Time, H2D Transfer, and Warmup/Hot Time </a:t>
            </a:r>
          </a:p>
        </p:txBody>
      </p:sp>
      <p:sp>
        <p:nvSpPr>
          <p:cNvPr id="7" name="Text 5"/>
          <p:cNvSpPr/>
          <p:nvPr/>
        </p:nvSpPr>
        <p:spPr>
          <a:xfrm>
            <a:off x="6263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captured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63640" y="22860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Dataloader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Wait Time</a:t>
            </a:r>
            <a:r>
              <a:rPr lang="en-US" sz="1500" dirty="0"/>
              <a:t> , H2D Transfer, and Warmup/Hot Time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Utilization %, Estimated Achieved Occupancy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/>
              <a:t>Train and Validation Tok/Sec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 stage: sync → h2d transfer → 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bwd → 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dataloader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prefetch → opt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quality metric (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bpb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avg semantic similarity score)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Headline Numbers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3584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400" b="1" dirty="0">
                <a:solidFill>
                  <a:srgbClr val="C75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5.74x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</a:t>
            </a: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/sec during inference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51960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→ optimized batching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15968" y="2286000"/>
            <a:ext cx="3584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400" b="1" dirty="0">
                <a:solidFill>
                  <a:srgbClr val="C75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81.99%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315968" y="3840480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GPU utilization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15968" y="4251960"/>
            <a:ext cx="3584448" cy="608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r>
              <a:rPr lang="en-US" sz="14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image embeddings → optimized </a:t>
            </a:r>
            <a:r>
              <a:rPr lang="en-US" sz="1400" b="1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r>
              <a:rPr lang="en-US" sz="14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embeddings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74736" y="2286000"/>
            <a:ext cx="3584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C75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6.15x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8174736" y="3840480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in training time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000" dirty="0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0284BA61-377E-E1F6-C61D-A521DB500700}"/>
              </a:ext>
            </a:extLst>
          </p:cNvPr>
          <p:cNvSpPr/>
          <p:nvPr/>
        </p:nvSpPr>
        <p:spPr>
          <a:xfrm>
            <a:off x="8174736" y="4297680"/>
            <a:ext cx="3584448" cy="608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r>
              <a:rPr lang="en-US" sz="14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offline embeddings + </a:t>
            </a:r>
          </a:p>
          <a:p>
            <a:pPr algn="ctr"/>
            <a:r>
              <a:rPr lang="en-US" sz="14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FP32 -&gt; B16 speedup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9796DF-0416-80A8-9F65-8B3A64BF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90B88F-84F2-1390-8644-0AD37173C924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Before vs. After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154BFA3-138C-A618-6BA8-B1DBFD1B2665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B5175E7-92C3-E8D9-648B-43AD59C0F70C}"/>
              </a:ext>
            </a:extLst>
          </p:cNvPr>
          <p:cNvSpPr/>
          <p:nvPr/>
        </p:nvSpPr>
        <p:spPr>
          <a:xfrm>
            <a:off x="8260080" y="1846053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6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2906F8B-AA21-9F39-EBFA-6B919FBFF1B5}"/>
              </a:ext>
            </a:extLst>
          </p:cNvPr>
          <p:cNvSpPr/>
          <p:nvPr/>
        </p:nvSpPr>
        <p:spPr>
          <a:xfrm>
            <a:off x="7752877" y="2286000"/>
            <a:ext cx="4219074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embeddings and mixed precision provided the greatest training speedup and throughput improvement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Tradeoffs: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memory increased warmup training time but decreased hot training time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Device Batch Size too much increases GPU Utilization but slows training, likely from cache spilling</a:t>
            </a:r>
          </a:p>
          <a:p>
            <a:pPr marL="800100" lvl="1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has better GPU Utilization than BF16, but lower Estimated Achieved Occupancy 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F2C790A-A32A-F91F-4439-00A754D9C1CD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3DD7C43-3D6E-60D0-7739-131C96EB0C14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BAB599-70D0-A6AB-522B-01094DF92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9542"/>
            <a:ext cx="7824158" cy="466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783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39819" y="1733910"/>
            <a:ext cx="3710221" cy="42096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Bottleneck: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DataLoader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Prefetch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online image embeddings take place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underutilized before pre-computed image embeddings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BF16 -&gt; FP32 halved % of time in H2D Transfer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1A5310-295C-37E7-B87B-5D31A68894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567"/>
          <a:stretch>
            <a:fillRect/>
          </a:stretch>
        </p:blipFill>
        <p:spPr>
          <a:xfrm>
            <a:off x="258412" y="1160826"/>
            <a:ext cx="2985833" cy="23291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6489A3-9910-4893-F13A-0EFD0AC8B6B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900"/>
          <a:stretch>
            <a:fillRect/>
          </a:stretch>
        </p:blipFill>
        <p:spPr>
          <a:xfrm>
            <a:off x="258412" y="3429000"/>
            <a:ext cx="2985833" cy="20968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D82BF46-2DAA-589A-8393-EC9909428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6578" y="1203721"/>
            <a:ext cx="3463806" cy="231856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CA78059-22E1-4D0C-4FA5-2A9A31A673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4087" y="3335655"/>
            <a:ext cx="3188723" cy="23185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B0ECE8-58F5-D76E-52B2-9509B37180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4404" y="5654216"/>
            <a:ext cx="5371683" cy="11782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Visualization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193102" y="6126481"/>
            <a:ext cx="902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image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E399AA-97FB-EA57-60BC-CF51ED362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23" y="1148646"/>
            <a:ext cx="11197087" cy="4977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single, linear projection layer is needed to adapt an LLM for image captioning</a:t>
            </a:r>
          </a:p>
          <a:p>
            <a:pPr marL="800100" lvl="1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finding from </a:t>
            </a:r>
            <a:r>
              <a:rPr lang="en-US" sz="15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LLaVa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paper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CLIP model is frozen, pre-computing image embeddings is free time-save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frees memory, allows for increasing device batch size. Tune together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Optimizing for the correct metrics: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Peak GPU Memory only measures VRAM used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GPU Utilization only measures time GPU is used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Achieved Occupancy actually measures  GPU saturation</a:t>
            </a:r>
            <a:endParaRPr lang="en-US" sz="15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263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didn't work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45352" y="2194560"/>
            <a:ext cx="5486400" cy="412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Torch.compile</a:t>
            </a: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did not work, likely from incompatibility of </a:t>
            </a:r>
            <a:r>
              <a:rPr lang="en-US" sz="1500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model, </a:t>
            </a:r>
            <a:r>
              <a:rPr lang="en-US" sz="1500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pytorch</a:t>
            </a: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, and CUDA 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Model Flops Utilization (MFU) is not a meaningful metric when using same hardware and model – just use </a:t>
            </a:r>
            <a:r>
              <a:rPr lang="en-US" sz="1500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tok</a:t>
            </a: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/sec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Increasing device batch size too much increases GPU utilization but slows training, likely from cache spilling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KV Caching is not as useful for smaller contexts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Decreasing total batch size proportionally decreased training time for a fixed number of iterations, but only because this also decreasing samples per iteration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127455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total batch size and other hyperparameters to improve caption quality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GPU(s) with more memory to enable loading larger </a:t>
            </a:r>
            <a:r>
              <a:rPr lang="en-US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 model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layers in </a:t>
            </a:r>
            <a:r>
              <a:rPr lang="en-US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and try different vision project layers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</a:t>
            </a:r>
            <a:r>
              <a:rPr lang="en-US" sz="18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Nanochat’s</a:t>
            </a: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built-in learning rate scheduler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Contributions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2A64C8-94C5-200D-AB86-A41246BC60E8}"/>
              </a:ext>
            </a:extLst>
          </p:cNvPr>
          <p:cNvSpPr/>
          <p:nvPr/>
        </p:nvSpPr>
        <p:spPr>
          <a:xfrm>
            <a:off x="457200" y="1828799"/>
            <a:ext cx="6814868" cy="1293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design, code, analysis and report was done by me.</a:t>
            </a:r>
          </a:p>
          <a:p>
            <a:pPr marL="0" indent="0">
              <a:buNone/>
            </a:pPr>
            <a:b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I started with a group, I did not use any of their work.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B8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r>
              <a:rPr lang="en-US" sz="1600" dirty="0">
                <a:hlinkClick r:id="rId3"/>
              </a:rPr>
              <a:t>https://github.com/AlexanderSwartz/multimodal-nanochat</a:t>
            </a:r>
            <a:endParaRPr lang="en-US" sz="1600" dirty="0"/>
          </a:p>
          <a:p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https://wandb.ai/as7629-columbia-university/Multimodal-Nanochat/table?nw=nwuseras7629</a:t>
            </a:r>
            <a:endParaRPr lang="en-US" sz="16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E9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E9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Experimental </a:t>
            </a:r>
            <a:r>
              <a:rPr lang="en-US" sz="32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930908"/>
              </p:ext>
            </p:extLst>
          </p:nvPr>
        </p:nvGraphicFramePr>
        <p:xfrm>
          <a:off x="457200" y="1413006"/>
          <a:ext cx="11274552" cy="4116957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Pinned Memory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99276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Persistent Workers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415705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Num Workers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0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4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18838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Time of Image Embedding Computation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Online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Offline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3607808"/>
                  </a:ext>
                </a:extLst>
              </a:tr>
              <a:tr h="4136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Device Batch Size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292931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Iterations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Evaluation Batch Size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8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893693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8CCA06-58D5-D962-2530-91075315F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C7FA5C1-24C7-6C71-59C0-5610784D7850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Mixed Precision Manual Instrumentation Results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726DDD7-9418-42F3-94B4-B27E6A1B43A1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6A5E8E4-DA52-E681-EDA3-83EC95F506F8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A4683ED-3322-3241-30DC-86DADE2D9251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AA6C31-23EE-B862-E665-743CBC5AE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" y="1378844"/>
            <a:ext cx="3802272" cy="2764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071BC-EC2F-9926-4F07-B2DD28D6D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634" y="1568967"/>
            <a:ext cx="3708554" cy="2764680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498DB02F-A06A-13C4-DA27-E6EE3D0ADF58}"/>
              </a:ext>
            </a:extLst>
          </p:cNvPr>
          <p:cNvSpPr/>
          <p:nvPr/>
        </p:nvSpPr>
        <p:spPr>
          <a:xfrm>
            <a:off x="7944929" y="1921707"/>
            <a:ext cx="3987651" cy="1293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BF16 -&gt; FP32 halved % of time in H2D Transfer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has better GPU Utilization than BF16, but lower Estimated Achieved Occupancy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5D0AE9-7640-6522-3173-5692ECA25CC5}"/>
              </a:ext>
            </a:extLst>
          </p:cNvPr>
          <p:cNvSpPr txBox="1"/>
          <p:nvPr/>
        </p:nvSpPr>
        <p:spPr>
          <a:xfrm>
            <a:off x="259420" y="4483590"/>
            <a:ext cx="4172873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Total training time at BF16: 99.62862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9605C7-47B9-0C34-753E-0906EB1ACB5D}"/>
              </a:ext>
            </a:extLst>
          </p:cNvPr>
          <p:cNvSpPr txBox="1"/>
          <p:nvPr/>
        </p:nvSpPr>
        <p:spPr>
          <a:xfrm>
            <a:off x="4158915" y="4483589"/>
            <a:ext cx="4172873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Total training time at BF16: </a:t>
            </a:r>
            <a:r>
              <a:rPr lang="en-US" dirty="0"/>
              <a:t>151.3277 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A62F3D-CA8C-3396-AA65-3486A095AB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8026"/>
          <a:stretch>
            <a:fillRect/>
          </a:stretch>
        </p:blipFill>
        <p:spPr>
          <a:xfrm>
            <a:off x="927542" y="4971392"/>
            <a:ext cx="2071911" cy="14739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41DBBB-E9B5-80CF-8ECA-DF8271DDCFE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68182"/>
          <a:stretch>
            <a:fillRect/>
          </a:stretch>
        </p:blipFill>
        <p:spPr>
          <a:xfrm>
            <a:off x="4354207" y="4878762"/>
            <a:ext cx="2175902" cy="1564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952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1C84A8-5515-337E-A8BF-A95D8B8B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480C7AB-017B-D261-F957-29F873FFD293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Pinned Memory During Online Embeddings Results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971A0D-CAF6-C20F-69DD-2155300FA834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6AF786B-6093-0E87-F5DA-0A1F4F71AB8F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E6AC3D2-A4E8-87B0-3EDF-9E2F948EA4EA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CA2B70-A5AB-6234-819E-D46E4A755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71" y="1538150"/>
            <a:ext cx="6768373" cy="4198416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B9BFC6D4-6A1E-C0BE-08A4-83B6A3DE7A60}"/>
              </a:ext>
            </a:extLst>
          </p:cNvPr>
          <p:cNvSpPr/>
          <p:nvPr/>
        </p:nvSpPr>
        <p:spPr>
          <a:xfrm>
            <a:off x="7538678" y="1319555"/>
            <a:ext cx="3987651" cy="199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 memory created up-front cost, increasing warmup time. The decrease in hot time is worth this up-front cost</a:t>
            </a:r>
          </a:p>
        </p:txBody>
      </p:sp>
    </p:spTree>
    <p:extLst>
      <p:ext uri="{BB962C8B-B14F-4D97-AF65-F5344CB8AC3E}">
        <p14:creationId xmlns:p14="http://schemas.microsoft.com/office/powerpoint/2010/main" val="4035748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EA8888-D20B-16AF-A81A-298DEF78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CCE479-7DDC-B536-ABA7-43DFBC847A22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Num Workers During Online Embeddings Results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4E6719-F299-262F-454C-52E71BA91533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EB7A697-05DB-B6F6-DD54-BCE1CE56489F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279D0D1-ABC9-F924-5517-FCDF4683A813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EF000A-A678-DED3-F62A-695B5A861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42" y="1660183"/>
            <a:ext cx="6956116" cy="4314873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7D440CC2-BE30-1058-C1B1-E84EAFBB4A0E}"/>
              </a:ext>
            </a:extLst>
          </p:cNvPr>
          <p:cNvSpPr/>
          <p:nvPr/>
        </p:nvSpPr>
        <p:spPr>
          <a:xfrm>
            <a:off x="7944929" y="1744110"/>
            <a:ext cx="3987651" cy="1293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Increasing num workers beyond the number of CPUs (4 here) causes diminishing returns due to </a:t>
            </a: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multiprocesing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overhead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4035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7918AC-02B4-3AEE-F6F5-8A0EB3A1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2401FD1-E8A6-9EFE-68CE-56909F93F019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Learning Rate Tuning Results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85DA5ED-965E-E9F5-04D6-A46B94ED5D68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E60899C-CD0F-A150-F72E-F46D9FD9B049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DCB6CBE-6C8D-1ED7-3091-A8A3F6ECD203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71A33D-F779-C910-7FD9-7A0E97D33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20" y="1324846"/>
            <a:ext cx="7515225" cy="4657725"/>
          </a:xfrm>
          <a:prstGeom prst="rect">
            <a:avLst/>
          </a:prstGeom>
        </p:spPr>
      </p:pic>
      <p:sp>
        <p:nvSpPr>
          <p:cNvPr id="11" name="Text 3">
            <a:extLst>
              <a:ext uri="{FF2B5EF4-FFF2-40B4-BE49-F238E27FC236}">
                <a16:creationId xmlns:a16="http://schemas.microsoft.com/office/drawing/2014/main" id="{DCB6DD84-ABD2-48F0-C2F7-B2F44412F8CA}"/>
              </a:ext>
            </a:extLst>
          </p:cNvPr>
          <p:cNvSpPr/>
          <p:nvPr/>
        </p:nvSpPr>
        <p:spPr>
          <a:xfrm>
            <a:off x="7944929" y="1744110"/>
            <a:ext cx="3987651" cy="1293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Optimal learning rate was set to 10^-2 for best </a:t>
            </a:r>
            <a:r>
              <a:rPr lang="en-US" sz="1600" b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bpb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average semantic similarity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88328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2F34E-5965-D235-05C2-9DBFBE677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E4A67A-D7BE-2B4A-BFEA-7804792451D1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Device Batch Size Results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F67C94D-DBB1-6F00-F253-48FC093234BE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3DA45A1-EFE8-A3BB-4FFE-1B0643A069E5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D891B7-D17C-9AA5-8214-86E3D9E036BF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E5C73B-B60B-6AB0-F2DF-68038D84A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20" y="1619117"/>
            <a:ext cx="3902980" cy="2837906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95B26B40-81F2-FABA-66DB-C3879FDBFA96}"/>
              </a:ext>
            </a:extLst>
          </p:cNvPr>
          <p:cNvSpPr/>
          <p:nvPr/>
        </p:nvSpPr>
        <p:spPr>
          <a:xfrm>
            <a:off x="7944929" y="1744110"/>
            <a:ext cx="3987651" cy="199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Device Batch Size will reduce gradient accumulation steps (mini batches), reducing overhead forward calls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Peak GPU Memory too much can cause cache spilling, increasing time spent moving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DCFD7D-A0B3-E69C-98B0-884D604DD7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924" y="1619116"/>
            <a:ext cx="3669351" cy="2837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99BC039-3108-CF67-3581-620857239D35}"/>
              </a:ext>
            </a:extLst>
          </p:cNvPr>
          <p:cNvSpPr txBox="1"/>
          <p:nvPr/>
        </p:nvSpPr>
        <p:spPr>
          <a:xfrm>
            <a:off x="259420" y="4483590"/>
            <a:ext cx="4172873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Total training time at BS16: 99.62862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A30C9C-07AA-74F1-2F37-900A30D5507D}"/>
              </a:ext>
            </a:extLst>
          </p:cNvPr>
          <p:cNvSpPr txBox="1"/>
          <p:nvPr/>
        </p:nvSpPr>
        <p:spPr>
          <a:xfrm>
            <a:off x="4108924" y="4510157"/>
            <a:ext cx="3942991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Total training time at BS64: 130.63998</a:t>
            </a:r>
          </a:p>
        </p:txBody>
      </p:sp>
    </p:spTree>
    <p:extLst>
      <p:ext uri="{BB962C8B-B14F-4D97-AF65-F5344CB8AC3E}">
        <p14:creationId xmlns:p14="http://schemas.microsoft.com/office/powerpoint/2010/main" val="3316705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9EB3F4-D410-A161-F120-13DA2FEAA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C83D431-F952-9347-1443-0EF295A8C6CA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Why isn’t MFU a meaningful metric?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F86509E-8E23-EEE2-A0CB-E1373C2C1C68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F2B5434-8AAB-92E3-F220-02FA5D374FC5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92187FD-3C8B-297E-629E-D5DBCFE5BC0A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6FEC8A-E577-1EEC-DEC4-0A06B98BDE1F}"/>
              </a:ext>
            </a:extLst>
          </p:cNvPr>
          <p:cNvSpPr txBox="1"/>
          <p:nvPr/>
        </p:nvSpPr>
        <p:spPr>
          <a:xfrm>
            <a:off x="793630" y="1740390"/>
            <a:ext cx="1101593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Model Flops Utilization (MFU) is supposed to measure percentage of theoretical peaks FLOPS is being reached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MFU = (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Tokens_per_second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*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FLOPS_per_token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) /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Peak_Hardware_FLOPS</a:t>
            </a:r>
            <a:endParaRPr lang="en-US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FLOPS_per_token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is always the same for this project (same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nanochat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model)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Peak_Hardware_FLOPS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 is always the same for this project (same hardware)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Only changing factor is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tok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/sec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For this project, MFU =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tok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/sec *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constant_factor</a:t>
            </a:r>
            <a:endParaRPr lang="en-US" dirty="0">
              <a:solidFill>
                <a:srgbClr val="1A1A1A"/>
              </a:solidFill>
              <a:ea typeface="Calibri" pitchFamily="34" charset="-122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Conclusion: just use </a:t>
            </a:r>
            <a:r>
              <a:rPr lang="en-US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tok</a:t>
            </a:r>
            <a:r>
              <a:rPr lang="en-US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/sec</a:t>
            </a:r>
          </a:p>
        </p:txBody>
      </p:sp>
    </p:spTree>
    <p:extLst>
      <p:ext uri="{BB962C8B-B14F-4D97-AF65-F5344CB8AC3E}">
        <p14:creationId xmlns:p14="http://schemas.microsoft.com/office/powerpoint/2010/main" val="2171142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606D3-5F39-1F33-AEB6-788911552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D2AE53-269C-3E75-411F-B0A3D86CF1B7}"/>
              </a:ext>
            </a:extLst>
          </p:cNvPr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 — Architecture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B22F547-049A-D8F5-18CA-015AE51C2BAD}"/>
              </a:ext>
            </a:extLst>
          </p:cNvPr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26B0661-ECB2-A676-4552-919A5D6C71D3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HPML · Spring 2026</a:t>
            </a:r>
            <a:endParaRPr lang="en-US" sz="1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F94729C-20A4-82C4-DFB6-92DA4E277BE7}"/>
              </a:ext>
            </a:extLst>
          </p:cNvPr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5E934-DE3C-27C6-1276-F7B7B50D1974}"/>
              </a:ext>
            </a:extLst>
          </p:cNvPr>
          <p:cNvGrpSpPr/>
          <p:nvPr/>
        </p:nvGrpSpPr>
        <p:grpSpPr>
          <a:xfrm>
            <a:off x="549813" y="1324758"/>
            <a:ext cx="11253638" cy="5077165"/>
            <a:chOff x="465837" y="1397300"/>
            <a:chExt cx="11253638" cy="507716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8465471-9985-2355-90A5-D3614F9D7292}"/>
                </a:ext>
              </a:extLst>
            </p:cNvPr>
            <p:cNvGrpSpPr/>
            <p:nvPr/>
          </p:nvGrpSpPr>
          <p:grpSpPr>
            <a:xfrm>
              <a:off x="780259" y="1397300"/>
              <a:ext cx="10326681" cy="2795137"/>
              <a:chOff x="642809" y="205319"/>
              <a:chExt cx="11182956" cy="3327592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BAF5D7-8DFB-EDDD-DB60-60A86F776AAF}"/>
                  </a:ext>
                </a:extLst>
              </p:cNvPr>
              <p:cNvSpPr/>
              <p:nvPr/>
            </p:nvSpPr>
            <p:spPr>
              <a:xfrm>
                <a:off x="642809" y="1104901"/>
                <a:ext cx="1135378" cy="113537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4DCB964-2998-F095-AE38-D8680D48D6AE}"/>
                  </a:ext>
                </a:extLst>
              </p:cNvPr>
              <p:cNvSpPr/>
              <p:nvPr/>
            </p:nvSpPr>
            <p:spPr>
              <a:xfrm>
                <a:off x="1781087" y="1112520"/>
                <a:ext cx="1135380" cy="113537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9E31E24-D1FF-F9A9-D225-CFA959FADC1C}"/>
                  </a:ext>
                </a:extLst>
              </p:cNvPr>
              <p:cNvSpPr/>
              <p:nvPr/>
            </p:nvSpPr>
            <p:spPr>
              <a:xfrm>
                <a:off x="643341" y="2240280"/>
                <a:ext cx="1135380" cy="113537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7829CFF-18EC-B774-3198-96B63A015139}"/>
                  </a:ext>
                </a:extLst>
              </p:cNvPr>
              <p:cNvSpPr/>
              <p:nvPr/>
            </p:nvSpPr>
            <p:spPr>
              <a:xfrm>
                <a:off x="1784416" y="2255024"/>
                <a:ext cx="1135380" cy="113537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36AA469-4EBF-F975-4AFA-468C920121B0}"/>
                  </a:ext>
                </a:extLst>
              </p:cNvPr>
              <p:cNvSpPr txBox="1"/>
              <p:nvPr/>
            </p:nvSpPr>
            <p:spPr>
              <a:xfrm>
                <a:off x="657506" y="292999"/>
                <a:ext cx="2491741" cy="7694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Image split into patches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6502352-D232-5CD5-FD48-ABBC27E23C0D}"/>
                  </a:ext>
                </a:extLst>
              </p:cNvPr>
              <p:cNvSpPr txBox="1"/>
              <p:nvPr/>
            </p:nvSpPr>
            <p:spPr>
              <a:xfrm>
                <a:off x="4931092" y="586085"/>
                <a:ext cx="2329815" cy="4396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Image embeddings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3B6C56-A986-B705-0976-D1CC0F7D2E8E}"/>
                  </a:ext>
                </a:extLst>
              </p:cNvPr>
              <p:cNvSpPr txBox="1"/>
              <p:nvPr/>
            </p:nvSpPr>
            <p:spPr>
              <a:xfrm>
                <a:off x="5105400" y="1120140"/>
                <a:ext cx="77724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[.15</a:t>
                </a:r>
                <a:br>
                  <a:rPr lang="en-US" sz="1500" dirty="0"/>
                </a:br>
                <a:r>
                  <a:rPr lang="en-US" sz="1500" dirty="0"/>
                  <a:t>-.61</a:t>
                </a:r>
                <a:br>
                  <a:rPr lang="en-US" sz="1500" dirty="0"/>
                </a:br>
                <a:r>
                  <a:rPr lang="en-US" sz="1500" dirty="0"/>
                  <a:t>.63</a:t>
                </a:r>
                <a:br>
                  <a:rPr lang="en-US" sz="1500" dirty="0"/>
                </a:br>
                <a:r>
                  <a:rPr lang="en-US" sz="1500" dirty="0"/>
                  <a:t>-.52]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6A9EE6B-51BB-1E56-0FB0-4E117C907BE6}"/>
                  </a:ext>
                </a:extLst>
              </p:cNvPr>
              <p:cNvSpPr txBox="1"/>
              <p:nvPr/>
            </p:nvSpPr>
            <p:spPr>
              <a:xfrm>
                <a:off x="6096000" y="1120140"/>
                <a:ext cx="77724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[.12</a:t>
                </a:r>
                <a:br>
                  <a:rPr lang="en-US" sz="1500" dirty="0"/>
                </a:br>
                <a:r>
                  <a:rPr lang="en-US" sz="1500" dirty="0"/>
                  <a:t>-.34</a:t>
                </a:r>
                <a:br>
                  <a:rPr lang="en-US" sz="1500" dirty="0"/>
                </a:br>
                <a:r>
                  <a:rPr lang="en-US" sz="1500" dirty="0"/>
                  <a:t>.56</a:t>
                </a:r>
                <a:br>
                  <a:rPr lang="en-US" sz="1500" dirty="0"/>
                </a:br>
                <a:r>
                  <a:rPr lang="en-US" sz="1500" dirty="0"/>
                  <a:t>-.78]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A3CDD0-7E42-24F0-E02B-1B27109F3FAC}"/>
                  </a:ext>
                </a:extLst>
              </p:cNvPr>
              <p:cNvSpPr txBox="1"/>
              <p:nvPr/>
            </p:nvSpPr>
            <p:spPr>
              <a:xfrm>
                <a:off x="5105400" y="2247900"/>
                <a:ext cx="77724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[.98</a:t>
                </a:r>
                <a:br>
                  <a:rPr lang="en-US" sz="1500" dirty="0"/>
                </a:br>
                <a:r>
                  <a:rPr lang="en-US" sz="1500" dirty="0"/>
                  <a:t>-.76</a:t>
                </a:r>
                <a:br>
                  <a:rPr lang="en-US" sz="1500" dirty="0"/>
                </a:br>
                <a:r>
                  <a:rPr lang="en-US" sz="1500" dirty="0"/>
                  <a:t>.65</a:t>
                </a:r>
                <a:br>
                  <a:rPr lang="en-US" sz="1500" dirty="0"/>
                </a:br>
                <a:r>
                  <a:rPr lang="en-US" sz="1500" dirty="0"/>
                  <a:t>-.43]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9B815CD-2267-92A4-099B-2EEE7C99DE94}"/>
                  </a:ext>
                </a:extLst>
              </p:cNvPr>
              <p:cNvSpPr txBox="1"/>
              <p:nvPr/>
            </p:nvSpPr>
            <p:spPr>
              <a:xfrm>
                <a:off x="6096000" y="2247900"/>
                <a:ext cx="777240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[.11</a:t>
                </a:r>
                <a:br>
                  <a:rPr lang="en-US" sz="1500" dirty="0"/>
                </a:br>
                <a:r>
                  <a:rPr lang="en-US" sz="1500" dirty="0"/>
                  <a:t>-.22</a:t>
                </a:r>
                <a:br>
                  <a:rPr lang="en-US" sz="1500" dirty="0"/>
                </a:br>
                <a:r>
                  <a:rPr lang="en-US" sz="1500" dirty="0"/>
                  <a:t>.33</a:t>
                </a:r>
                <a:br>
                  <a:rPr lang="en-US" sz="1500" dirty="0"/>
                </a:br>
                <a:r>
                  <a:rPr lang="en-US" sz="1500" dirty="0"/>
                  <a:t>-.44]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4BBB5E9-35D6-2DC9-7E7E-79FC610C7E9D}"/>
                  </a:ext>
                </a:extLst>
              </p:cNvPr>
              <p:cNvSpPr/>
              <p:nvPr/>
            </p:nvSpPr>
            <p:spPr>
              <a:xfrm>
                <a:off x="3593782" y="1039951"/>
                <a:ext cx="870585" cy="23433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27" name="Arrow: Right 26">
                <a:extLst>
                  <a:ext uri="{FF2B5EF4-FFF2-40B4-BE49-F238E27FC236}">
                    <a16:creationId xmlns:a16="http://schemas.microsoft.com/office/drawing/2014/main" id="{D7A48D4D-3E8B-605C-578B-9D6778C89A0C}"/>
                  </a:ext>
                </a:extLst>
              </p:cNvPr>
              <p:cNvSpPr/>
              <p:nvPr/>
            </p:nvSpPr>
            <p:spPr>
              <a:xfrm>
                <a:off x="3023146" y="2104072"/>
                <a:ext cx="519202" cy="257175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28" name="Arrow: Right 27">
                <a:extLst>
                  <a:ext uri="{FF2B5EF4-FFF2-40B4-BE49-F238E27FC236}">
                    <a16:creationId xmlns:a16="http://schemas.microsoft.com/office/drawing/2014/main" id="{1B4A832B-8109-4D65-1C0A-46589E492AB8}"/>
                  </a:ext>
                </a:extLst>
              </p:cNvPr>
              <p:cNvSpPr/>
              <p:nvPr/>
            </p:nvSpPr>
            <p:spPr>
              <a:xfrm>
                <a:off x="4554245" y="2083027"/>
                <a:ext cx="519202" cy="257175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F2998-A305-DB34-A07E-E4CBBAA9491D}"/>
                  </a:ext>
                </a:extLst>
              </p:cNvPr>
              <p:cNvSpPr txBox="1"/>
              <p:nvPr/>
            </p:nvSpPr>
            <p:spPr>
              <a:xfrm>
                <a:off x="3215552" y="205319"/>
                <a:ext cx="1987956" cy="7694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Pre-trained Image encoder</a:t>
                </a:r>
              </a:p>
            </p:txBody>
          </p:sp>
          <p:sp>
            <p:nvSpPr>
              <p:cNvPr id="30" name="Arrow: Right 29">
                <a:extLst>
                  <a:ext uri="{FF2B5EF4-FFF2-40B4-BE49-F238E27FC236}">
                    <a16:creationId xmlns:a16="http://schemas.microsoft.com/office/drawing/2014/main" id="{3BB47D7B-D1FD-9780-98A9-5D5EBE83C8D9}"/>
                  </a:ext>
                </a:extLst>
              </p:cNvPr>
              <p:cNvSpPr/>
              <p:nvPr/>
            </p:nvSpPr>
            <p:spPr>
              <a:xfrm>
                <a:off x="7172326" y="2073502"/>
                <a:ext cx="519202" cy="257175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B9AD9BF-0524-8FB5-B5C8-F7EC050BA2BF}"/>
                  </a:ext>
                </a:extLst>
              </p:cNvPr>
              <p:cNvSpPr txBox="1"/>
              <p:nvPr/>
            </p:nvSpPr>
            <p:spPr>
              <a:xfrm>
                <a:off x="7172326" y="586085"/>
                <a:ext cx="2412206" cy="7694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Linear projection layer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76850D-B5FD-C43A-C3F6-56260B051E49}"/>
                  </a:ext>
                </a:extLst>
              </p:cNvPr>
              <p:cNvSpPr txBox="1"/>
              <p:nvPr/>
            </p:nvSpPr>
            <p:spPr>
              <a:xfrm>
                <a:off x="10465981" y="1409610"/>
                <a:ext cx="77724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[.15</a:t>
                </a:r>
                <a:br>
                  <a:rPr lang="en-US" sz="1500" dirty="0"/>
                </a:br>
                <a:r>
                  <a:rPr lang="en-US" sz="1500" dirty="0"/>
                  <a:t>-.61]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2652FD-E839-4E27-FC74-2FB191E9C3FC}"/>
                  </a:ext>
                </a:extLst>
              </p:cNvPr>
              <p:cNvSpPr txBox="1"/>
              <p:nvPr/>
            </p:nvSpPr>
            <p:spPr>
              <a:xfrm>
                <a:off x="10465981" y="2400241"/>
                <a:ext cx="77724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[.12</a:t>
                </a:r>
                <a:br>
                  <a:rPr lang="en-US" sz="1500" dirty="0"/>
                </a:br>
                <a:r>
                  <a:rPr lang="en-US" sz="1500" dirty="0"/>
                  <a:t>-.34]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5961BF7-4417-59F9-543D-CA84F42D0E70}"/>
                  </a:ext>
                </a:extLst>
              </p:cNvPr>
              <p:cNvSpPr txBox="1"/>
              <p:nvPr/>
            </p:nvSpPr>
            <p:spPr>
              <a:xfrm>
                <a:off x="9688741" y="1409610"/>
                <a:ext cx="77724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[.98</a:t>
                </a:r>
                <a:br>
                  <a:rPr lang="en-US" sz="1500" dirty="0"/>
                </a:br>
                <a:r>
                  <a:rPr lang="en-US" sz="1500" dirty="0"/>
                  <a:t>-.76]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A63AE6-35F6-D439-23DF-40DDF8CB1506}"/>
                  </a:ext>
                </a:extLst>
              </p:cNvPr>
              <p:cNvSpPr txBox="1"/>
              <p:nvPr/>
            </p:nvSpPr>
            <p:spPr>
              <a:xfrm>
                <a:off x="9688741" y="2369133"/>
                <a:ext cx="77724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[.11</a:t>
                </a:r>
                <a:br>
                  <a:rPr lang="en-US" sz="1500" dirty="0"/>
                </a:br>
                <a:r>
                  <a:rPr lang="en-US" sz="1500" dirty="0"/>
                  <a:t>-.22]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26905D20-222D-9798-2FBC-A3D65F566ECF}"/>
                  </a:ext>
                </a:extLst>
              </p:cNvPr>
              <p:cNvSpPr/>
              <p:nvPr/>
            </p:nvSpPr>
            <p:spPr>
              <a:xfrm>
                <a:off x="8184357" y="1189582"/>
                <a:ext cx="130016" cy="23433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37" name="Arrow: Right 36">
                <a:extLst>
                  <a:ext uri="{FF2B5EF4-FFF2-40B4-BE49-F238E27FC236}">
                    <a16:creationId xmlns:a16="http://schemas.microsoft.com/office/drawing/2014/main" id="{C9C23548-F8AF-D24D-382B-5825B01E1114}"/>
                  </a:ext>
                </a:extLst>
              </p:cNvPr>
              <p:cNvSpPr/>
              <p:nvPr/>
            </p:nvSpPr>
            <p:spPr>
              <a:xfrm>
                <a:off x="8807202" y="2083027"/>
                <a:ext cx="519202" cy="257175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8F38972-4A4E-AAED-DD2D-9399F2F4F03A}"/>
                  </a:ext>
                </a:extLst>
              </p:cNvPr>
              <p:cNvSpPr txBox="1"/>
              <p:nvPr/>
            </p:nvSpPr>
            <p:spPr>
              <a:xfrm>
                <a:off x="9656832" y="601001"/>
                <a:ext cx="2168933" cy="7694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Embeddings in LLM vocab space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6979866-8C7C-61E2-7ED3-2165E4005CAC}"/>
                </a:ext>
              </a:extLst>
            </p:cNvPr>
            <p:cNvGrpSpPr/>
            <p:nvPr/>
          </p:nvGrpSpPr>
          <p:grpSpPr>
            <a:xfrm>
              <a:off x="465837" y="2826705"/>
              <a:ext cx="11253638" cy="3647760"/>
              <a:chOff x="465837" y="2826705"/>
              <a:chExt cx="11253638" cy="3647760"/>
            </a:xfrm>
          </p:grpSpPr>
          <p:sp>
            <p:nvSpPr>
              <p:cNvPr id="39" name="Arrow: Right 38">
                <a:extLst>
                  <a:ext uri="{FF2B5EF4-FFF2-40B4-BE49-F238E27FC236}">
                    <a16:creationId xmlns:a16="http://schemas.microsoft.com/office/drawing/2014/main" id="{C9A742DD-4C54-AECF-8D32-86CC96A113ED}"/>
                  </a:ext>
                </a:extLst>
              </p:cNvPr>
              <p:cNvSpPr/>
              <p:nvPr/>
            </p:nvSpPr>
            <p:spPr>
              <a:xfrm>
                <a:off x="10807281" y="2826705"/>
                <a:ext cx="479447" cy="216024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40" name="Arrow: Right 39">
                <a:extLst>
                  <a:ext uri="{FF2B5EF4-FFF2-40B4-BE49-F238E27FC236}">
                    <a16:creationId xmlns:a16="http://schemas.microsoft.com/office/drawing/2014/main" id="{33567104-4E6F-4470-9ECE-FFD97720521F}"/>
                  </a:ext>
                </a:extLst>
              </p:cNvPr>
              <p:cNvSpPr/>
              <p:nvPr/>
            </p:nvSpPr>
            <p:spPr>
              <a:xfrm>
                <a:off x="465837" y="5355847"/>
                <a:ext cx="479447" cy="216024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7FB49C21-BA36-F5D6-B545-3DD1C208C976}"/>
                  </a:ext>
                </a:extLst>
              </p:cNvPr>
              <p:cNvSpPr/>
              <p:nvPr/>
            </p:nvSpPr>
            <p:spPr>
              <a:xfrm>
                <a:off x="5560828" y="4844403"/>
                <a:ext cx="2775814" cy="1630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D1F937C-0CCE-4F7D-947C-B22B921C06E4}"/>
                  </a:ext>
                </a:extLst>
              </p:cNvPr>
              <p:cNvSpPr txBox="1"/>
              <p:nvPr/>
            </p:nvSpPr>
            <p:spPr>
              <a:xfrm>
                <a:off x="6035693" y="4326634"/>
                <a:ext cx="23009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Pre-trained LLM</a:t>
                </a:r>
              </a:p>
            </p:txBody>
          </p:sp>
          <p:sp>
            <p:nvSpPr>
              <p:cNvPr id="43" name="Arrow: Right 42">
                <a:extLst>
                  <a:ext uri="{FF2B5EF4-FFF2-40B4-BE49-F238E27FC236}">
                    <a16:creationId xmlns:a16="http://schemas.microsoft.com/office/drawing/2014/main" id="{1D28C986-608B-C5B0-6FBA-20D3270755E0}"/>
                  </a:ext>
                </a:extLst>
              </p:cNvPr>
              <p:cNvSpPr/>
              <p:nvPr/>
            </p:nvSpPr>
            <p:spPr>
              <a:xfrm>
                <a:off x="8666337" y="5456078"/>
                <a:ext cx="479447" cy="216024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071874A-86E5-59A9-19C7-F260A3591A40}"/>
                  </a:ext>
                </a:extLst>
              </p:cNvPr>
              <p:cNvSpPr txBox="1"/>
              <p:nvPr/>
            </p:nvSpPr>
            <p:spPr>
              <a:xfrm>
                <a:off x="9418526" y="5343432"/>
                <a:ext cx="23009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Image Caption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AB184EC-FD5F-6FF7-7280-61EEEBFD9FB6}"/>
                  </a:ext>
                </a:extLst>
              </p:cNvPr>
              <p:cNvSpPr txBox="1"/>
              <p:nvPr/>
            </p:nvSpPr>
            <p:spPr>
              <a:xfrm>
                <a:off x="1834454" y="4934762"/>
                <a:ext cx="717727" cy="46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[.15</a:t>
                </a:r>
                <a:br>
                  <a:rPr lang="en-US" sz="1500" dirty="0"/>
                </a:br>
                <a:r>
                  <a:rPr lang="en-US" sz="1500" dirty="0"/>
                  <a:t>-.61]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D88E4E4-BC19-57BB-4727-DFDB97A2CB47}"/>
                  </a:ext>
                </a:extLst>
              </p:cNvPr>
              <p:cNvSpPr txBox="1"/>
              <p:nvPr/>
            </p:nvSpPr>
            <p:spPr>
              <a:xfrm>
                <a:off x="1834454" y="5766880"/>
                <a:ext cx="717727" cy="46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[.12</a:t>
                </a:r>
                <a:br>
                  <a:rPr lang="en-US" sz="1500" dirty="0"/>
                </a:br>
                <a:r>
                  <a:rPr lang="en-US" sz="1500" dirty="0"/>
                  <a:t>-.34]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D025D92-113D-AC8D-572E-DD82DFCDDB0D}"/>
                  </a:ext>
                </a:extLst>
              </p:cNvPr>
              <p:cNvSpPr txBox="1"/>
              <p:nvPr/>
            </p:nvSpPr>
            <p:spPr>
              <a:xfrm>
                <a:off x="1116727" y="4934762"/>
                <a:ext cx="717727" cy="46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[.98</a:t>
                </a:r>
                <a:br>
                  <a:rPr lang="en-US" sz="1500" dirty="0"/>
                </a:br>
                <a:r>
                  <a:rPr lang="en-US" sz="1500" dirty="0"/>
                  <a:t>-.76]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6984A72-8270-6489-9993-F76303D96051}"/>
                  </a:ext>
                </a:extLst>
              </p:cNvPr>
              <p:cNvSpPr txBox="1"/>
              <p:nvPr/>
            </p:nvSpPr>
            <p:spPr>
              <a:xfrm>
                <a:off x="1116727" y="5740750"/>
                <a:ext cx="717727" cy="46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[.11</a:t>
                </a:r>
                <a:br>
                  <a:rPr lang="en-US" sz="1500" dirty="0"/>
                </a:br>
                <a:r>
                  <a:rPr lang="en-US" sz="1500" dirty="0"/>
                  <a:t>-.22]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A4F8412-0230-E266-F288-0721DD313423}"/>
                  </a:ext>
                </a:extLst>
              </p:cNvPr>
              <p:cNvSpPr txBox="1"/>
              <p:nvPr/>
            </p:nvSpPr>
            <p:spPr>
              <a:xfrm>
                <a:off x="2483590" y="5333767"/>
                <a:ext cx="23009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“Describe the image”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CB91730-FDD3-B82D-4EE1-DE17BA10888E}"/>
                  </a:ext>
                </a:extLst>
              </p:cNvPr>
              <p:cNvSpPr txBox="1"/>
              <p:nvPr/>
            </p:nvSpPr>
            <p:spPr>
              <a:xfrm>
                <a:off x="2690798" y="4409090"/>
                <a:ext cx="23009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Append prompt</a:t>
                </a:r>
              </a:p>
            </p:txBody>
          </p: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DB7D6276-598C-0A51-F472-76EE8A1763CC}"/>
                  </a:ext>
                </a:extLst>
              </p:cNvPr>
              <p:cNvSpPr/>
              <p:nvPr/>
            </p:nvSpPr>
            <p:spPr>
              <a:xfrm>
                <a:off x="4817557" y="5439218"/>
                <a:ext cx="479447" cy="216024"/>
              </a:xfrm>
              <a:prstGeom prst="rightArrow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68770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5C9B50-38F3-2CD9-1CEC-F220496B6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734" y="1214437"/>
            <a:ext cx="10070841" cy="44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693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1631</TotalTime>
  <Words>1582</Words>
  <Application>Microsoft Office PowerPoint</Application>
  <PresentationFormat>Widescreen</PresentationFormat>
  <Paragraphs>282</Paragraphs>
  <Slides>22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Columbia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HPML Final Project — Presentation Template</dc:title>
  <dc:subject>HPML Spring 2026</dc:subject>
  <dc:creator>Dr. Kaoutar El Maghraoui</dc:creator>
  <cp:lastModifiedBy>as7629</cp:lastModifiedBy>
  <cp:revision>31</cp:revision>
  <dcterms:created xsi:type="dcterms:W3CDTF">2026-05-03T03:17:50Z</dcterms:created>
  <dcterms:modified xsi:type="dcterms:W3CDTF">2026-05-06T02:36:14Z</dcterms:modified>
</cp:coreProperties>
</file>